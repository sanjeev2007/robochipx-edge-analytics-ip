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Hoves Bold" charset="1" panose="02000003020000060003"/>
      <p:regular r:id="rId16"/>
    </p:embeddedFont>
    <p:embeddedFont>
      <p:font typeface="Poppins" charset="1" panose="00000500000000000000"/>
      <p:regular r:id="rId17"/>
    </p:embeddedFont>
    <p:embeddedFont>
      <p:font typeface="TT Hoves" charset="1" panose="0200000302000006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79318" y="2287880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9" y="0"/>
                </a:lnTo>
                <a:lnTo>
                  <a:pt x="11221859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253964"/>
            <a:chOff x="0" y="0"/>
            <a:chExt cx="4816593" cy="330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30262"/>
            </a:xfrm>
            <a:custGeom>
              <a:avLst/>
              <a:gdLst/>
              <a:ahLst/>
              <a:cxnLst/>
              <a:rect r="r" b="b" t="t" l="l"/>
              <a:pathLst>
                <a:path h="330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0262"/>
                  </a:lnTo>
                  <a:lnTo>
                    <a:pt x="0" y="330262"/>
                  </a:lnTo>
                  <a:close/>
                </a:path>
              </a:pathLst>
            </a:custGeom>
            <a:solidFill>
              <a:srgbClr val="1E60C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6593" cy="387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01781" y="193938"/>
            <a:ext cx="4084437" cy="912191"/>
          </a:xfrm>
          <a:custGeom>
            <a:avLst/>
            <a:gdLst/>
            <a:ahLst/>
            <a:cxnLst/>
            <a:rect r="r" b="b" t="t" l="l"/>
            <a:pathLst>
              <a:path h="912191" w="4084437">
                <a:moveTo>
                  <a:pt x="0" y="0"/>
                </a:moveTo>
                <a:lnTo>
                  <a:pt x="4084438" y="0"/>
                </a:lnTo>
                <a:lnTo>
                  <a:pt x="4084438" y="912191"/>
                </a:lnTo>
                <a:lnTo>
                  <a:pt x="0" y="912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22871" y="1028700"/>
            <a:ext cx="8242257" cy="2076328"/>
          </a:xfrm>
          <a:custGeom>
            <a:avLst/>
            <a:gdLst/>
            <a:ahLst/>
            <a:cxnLst/>
            <a:rect r="r" b="b" t="t" l="l"/>
            <a:pathLst>
              <a:path h="2076328" w="8242257">
                <a:moveTo>
                  <a:pt x="0" y="0"/>
                </a:moveTo>
                <a:lnTo>
                  <a:pt x="8242258" y="0"/>
                </a:lnTo>
                <a:lnTo>
                  <a:pt x="8242258" y="2076328"/>
                </a:lnTo>
                <a:lnTo>
                  <a:pt x="0" y="20763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7742" r="0" b="-15922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88959" y="2769894"/>
            <a:ext cx="3510082" cy="670267"/>
          </a:xfrm>
          <a:custGeom>
            <a:avLst/>
            <a:gdLst/>
            <a:ahLst/>
            <a:cxnLst/>
            <a:rect r="r" b="b" t="t" l="l"/>
            <a:pathLst>
              <a:path h="670267" w="3510082">
                <a:moveTo>
                  <a:pt x="0" y="0"/>
                </a:moveTo>
                <a:lnTo>
                  <a:pt x="3510082" y="0"/>
                </a:lnTo>
                <a:lnTo>
                  <a:pt x="3510082" y="670267"/>
                </a:lnTo>
                <a:lnTo>
                  <a:pt x="0" y="670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33761" y="4195803"/>
            <a:ext cx="109103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39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TITLE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33761" y="5269589"/>
            <a:ext cx="8459795" cy="227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Team ID:</a:t>
            </a:r>
          </a:p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Track:</a:t>
            </a:r>
          </a:p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Team name:</a:t>
            </a:r>
          </a:p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Team members: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267151" cy="10287000"/>
            <a:chOff x="0" y="0"/>
            <a:chExt cx="59711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1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597110">
                  <a:moveTo>
                    <a:pt x="0" y="0"/>
                  </a:moveTo>
                  <a:lnTo>
                    <a:pt x="597110" y="0"/>
                  </a:lnTo>
                  <a:lnTo>
                    <a:pt x="5971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9711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36137" y="388088"/>
            <a:ext cx="3469731" cy="881890"/>
          </a:xfrm>
          <a:custGeom>
            <a:avLst/>
            <a:gdLst/>
            <a:ahLst/>
            <a:cxnLst/>
            <a:rect r="r" b="b" t="t" l="l"/>
            <a:pathLst>
              <a:path h="881890" w="3469731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0342" y="3821274"/>
            <a:ext cx="8395740" cy="408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39"/>
              </a:lnSpc>
            </a:pP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Define:</a:t>
            </a:r>
          </a:p>
          <a:p>
            <a:pPr algn="l" marL="518157" indent="-259078" lvl="1">
              <a:lnSpc>
                <a:spcPts val="3239"/>
              </a:lnSpc>
              <a:buFont typeface="Arial"/>
              <a:buChar char="•"/>
            </a:pP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Iden</a:t>
            </a: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tify the core problem or challenge being addressed</a:t>
            </a:r>
          </a:p>
          <a:p>
            <a:pPr algn="l" marL="518157" indent="-259078" lvl="1">
              <a:lnSpc>
                <a:spcPts val="3239"/>
              </a:lnSpc>
              <a:buFont typeface="Arial"/>
              <a:buChar char="•"/>
            </a:pP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Explain the significance and relevance of the problem</a:t>
            </a:r>
          </a:p>
          <a:p>
            <a:pPr algn="l" marL="518157" indent="-259078" lvl="1">
              <a:lnSpc>
                <a:spcPts val="3239"/>
              </a:lnSpc>
              <a:buFont typeface="Arial"/>
              <a:buChar char="•"/>
            </a:pP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Describe the target users or stakeholders impacted</a:t>
            </a:r>
          </a:p>
          <a:p>
            <a:pPr algn="l" marL="518157" indent="-259078" lvl="1">
              <a:lnSpc>
                <a:spcPts val="3239"/>
              </a:lnSpc>
              <a:buFont typeface="Arial"/>
              <a:buChar char="•"/>
            </a:pP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Highlight the gaps or shortcomings in current solutions</a:t>
            </a:r>
          </a:p>
          <a:p>
            <a:pPr algn="just">
              <a:lnSpc>
                <a:spcPts val="3239"/>
              </a:lnSpc>
            </a:pP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740342" y="578588"/>
            <a:ext cx="9760574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39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26789" y="-2986203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1" y="0"/>
                </a:lnTo>
                <a:lnTo>
                  <a:pt x="7624731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1343" y="4418949"/>
            <a:ext cx="10114486" cy="244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sz="2400" spc="14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Provide a comprehensive overview of the proposed solution.</a:t>
            </a:r>
          </a:p>
          <a:p>
            <a:pPr algn="just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sz="2400" spc="14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Explain how the solution effectively resolves the identified problem.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Highlight the innovative features and distinctive aspects of the proposed approach.</a:t>
            </a:r>
          </a:p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71343" y="997613"/>
            <a:ext cx="11919787" cy="202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b="true" sz="8000" spc="-38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METHODOLOGY PROPOSED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214010" y="0"/>
            <a:ext cx="4073990" cy="10287000"/>
            <a:chOff x="0" y="0"/>
            <a:chExt cx="1072985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9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72985">
                  <a:moveTo>
                    <a:pt x="0" y="0"/>
                  </a:moveTo>
                  <a:lnTo>
                    <a:pt x="1072985" y="0"/>
                  </a:lnTo>
                  <a:lnTo>
                    <a:pt x="107298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72985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436137" y="388088"/>
            <a:ext cx="3469731" cy="881890"/>
          </a:xfrm>
          <a:custGeom>
            <a:avLst/>
            <a:gdLst/>
            <a:ahLst/>
            <a:cxnLst/>
            <a:rect r="r" b="b" t="t" l="l"/>
            <a:pathLst>
              <a:path h="881890" w="3469731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2" r="0" b="-432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26789" y="-2986203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1" y="0"/>
                </a:lnTo>
                <a:lnTo>
                  <a:pt x="7624731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1343" y="4087108"/>
            <a:ext cx="10114486" cy="285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</a:t>
            </a:r>
            <a:r>
              <a:rPr lang="en-US" sz="2400" spc="144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resent the proposed system architecture, development approach, tools, technologies, and algorithms used to build the solution.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Outline the implementation workflow, data management process (if applicable), testing strategy, and the metrics or methods used to assess system performance.</a:t>
            </a:r>
          </a:p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71343" y="997613"/>
            <a:ext cx="7315066" cy="202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b="true" sz="8000" spc="-38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TECHNICAL APPROACH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214010" y="0"/>
            <a:ext cx="4073990" cy="10287000"/>
            <a:chOff x="0" y="0"/>
            <a:chExt cx="1072985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98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72985">
                  <a:moveTo>
                    <a:pt x="0" y="0"/>
                  </a:moveTo>
                  <a:lnTo>
                    <a:pt x="1072985" y="0"/>
                  </a:lnTo>
                  <a:lnTo>
                    <a:pt x="107298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72985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436137" y="388088"/>
            <a:ext cx="3469731" cy="881890"/>
          </a:xfrm>
          <a:custGeom>
            <a:avLst/>
            <a:gdLst/>
            <a:ahLst/>
            <a:cxnLst/>
            <a:rect r="r" b="b" t="t" l="l"/>
            <a:pathLst>
              <a:path h="881890" w="3469731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2" r="0" b="-43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33657" y="2712289"/>
            <a:ext cx="13935782" cy="13935782"/>
          </a:xfrm>
          <a:custGeom>
            <a:avLst/>
            <a:gdLst/>
            <a:ahLst/>
            <a:cxnLst/>
            <a:rect r="r" b="b" t="t" l="l"/>
            <a:pathLst>
              <a:path h="13935782" w="13935782">
                <a:moveTo>
                  <a:pt x="0" y="0"/>
                </a:moveTo>
                <a:lnTo>
                  <a:pt x="13935782" y="0"/>
                </a:lnTo>
                <a:lnTo>
                  <a:pt x="13935782" y="13935782"/>
                </a:lnTo>
                <a:lnTo>
                  <a:pt x="0" y="13935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3700" y="970261"/>
            <a:ext cx="12904143" cy="202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60"/>
              </a:lnSpc>
            </a:pPr>
            <a:r>
              <a:rPr lang="en-US" b="true" sz="8000" spc="-38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FINAL REFLECTIONS AND FUTURE STEPS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3700" y="4032234"/>
            <a:ext cx="11509465" cy="326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400" spc="144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Participants should specify: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l</a:t>
            </a:r>
            <a:r>
              <a:rPr lang="en-US" sz="2400" spc="144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ist of software tools and frameworks used (e.g., Python, MATLAB, Power BI, etc.).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400" spc="144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he hardware components or equipment required, if applicable.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400" spc="144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he development or deployment platforms (e.g., AWS, Azure, Google Cloud, etc.).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2400" spc="144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he programming languages utilized for implementation.</a:t>
            </a:r>
          </a:p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4207602" y="0"/>
            <a:ext cx="4080398" cy="10287000"/>
            <a:chOff x="0" y="0"/>
            <a:chExt cx="107467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467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074673">
                  <a:moveTo>
                    <a:pt x="0" y="0"/>
                  </a:moveTo>
                  <a:lnTo>
                    <a:pt x="1074673" y="0"/>
                  </a:lnTo>
                  <a:lnTo>
                    <a:pt x="107467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7467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436137" y="388088"/>
            <a:ext cx="3469731" cy="881890"/>
          </a:xfrm>
          <a:custGeom>
            <a:avLst/>
            <a:gdLst/>
            <a:ahLst/>
            <a:cxnLst/>
            <a:rect r="r" b="b" t="t" l="l"/>
            <a:pathLst>
              <a:path h="881890" w="3469731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32" r="0" b="-432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80310" y="4516755"/>
            <a:ext cx="11327380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0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</a:t>
            </a:r>
            <a:r>
              <a:rPr lang="en-US" sz="30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rototype / Model / Application</a:t>
            </a:r>
          </a:p>
          <a:p>
            <a:pPr algn="ctr">
              <a:lnSpc>
                <a:spcPts val="46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6861" y="592772"/>
            <a:ext cx="12013863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7760"/>
              </a:lnSpc>
              <a:spcBef>
                <a:spcPct val="0"/>
              </a:spcBef>
            </a:pPr>
            <a:r>
              <a:rPr lang="en-US" b="true" sz="8000" spc="-384" strike="noStrike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EXPECTED DELIVERABLE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E60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436137" y="388088"/>
            <a:ext cx="3469731" cy="881890"/>
          </a:xfrm>
          <a:custGeom>
            <a:avLst/>
            <a:gdLst/>
            <a:ahLst/>
            <a:cxnLst/>
            <a:rect r="r" b="b" t="t" l="l"/>
            <a:pathLst>
              <a:path h="881890" w="3469731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80310" y="4516755"/>
            <a:ext cx="11327380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0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Resea</a:t>
            </a:r>
            <a:r>
              <a:rPr lang="en-US" sz="30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rch paper / Documentation</a:t>
            </a:r>
          </a:p>
          <a:p>
            <a:pPr algn="ctr">
              <a:lnSpc>
                <a:spcPts val="46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6861" y="592772"/>
            <a:ext cx="12013863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7760"/>
              </a:lnSpc>
              <a:spcBef>
                <a:spcPct val="0"/>
              </a:spcBef>
            </a:pPr>
            <a:r>
              <a:rPr lang="en-US" b="true" sz="8000" spc="-384" strike="noStrike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EXPECTED DELIVERABLE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36137" y="388088"/>
            <a:ext cx="3469731" cy="881890"/>
          </a:xfrm>
          <a:custGeom>
            <a:avLst/>
            <a:gdLst/>
            <a:ahLst/>
            <a:cxnLst/>
            <a:rect r="r" b="b" t="t" l="l"/>
            <a:pathLst>
              <a:path h="881890" w="3469731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E60C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80310" y="4516755"/>
            <a:ext cx="11327380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0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Wo</a:t>
            </a:r>
            <a:r>
              <a:rPr lang="en-US" sz="30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rking demo</a:t>
            </a:r>
          </a:p>
          <a:p>
            <a:pPr algn="ctr">
              <a:lnSpc>
                <a:spcPts val="46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6861" y="592772"/>
            <a:ext cx="12013863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7760"/>
              </a:lnSpc>
              <a:spcBef>
                <a:spcPct val="0"/>
              </a:spcBef>
            </a:pPr>
            <a:r>
              <a:rPr lang="en-US" b="true" sz="8000" spc="-384" strike="noStrike" u="non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EXPECTED DELIVERABLE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36137" y="388088"/>
            <a:ext cx="3469731" cy="881890"/>
          </a:xfrm>
          <a:custGeom>
            <a:avLst/>
            <a:gdLst/>
            <a:ahLst/>
            <a:cxnLst/>
            <a:rect r="r" b="b" t="t" l="l"/>
            <a:pathLst>
              <a:path h="881890" w="3469731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E60C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3721563"/>
            <a:ext cx="8715770" cy="401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400" spc="14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Participants should include: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Incl</a:t>
            </a:r>
            <a:r>
              <a:rPr lang="en-US" sz="2400" spc="144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ude relevant research publications (e.g., IEEE, Springer, etc.).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Reference books or academic textbooks used during the study.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Cite official documentation for the tools, frameworks, or technologies utilized.</a:t>
            </a:r>
          </a:p>
          <a:p>
            <a:pPr algn="just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Provide links to credible and reliable online resources.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1133475"/>
            <a:ext cx="763905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b="true" sz="8000" spc="-39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REFERENCES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36137" y="388088"/>
            <a:ext cx="3469731" cy="881890"/>
          </a:xfrm>
          <a:custGeom>
            <a:avLst/>
            <a:gdLst/>
            <a:ahLst/>
            <a:cxnLst/>
            <a:rect r="r" b="b" t="t" l="l"/>
            <a:pathLst>
              <a:path h="881890" w="3469731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647716" cy="10287000"/>
            <a:chOff x="0" y="0"/>
            <a:chExt cx="433966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966" cy="2709333"/>
            </a:xfrm>
            <a:custGeom>
              <a:avLst/>
              <a:gdLst/>
              <a:ahLst/>
              <a:cxnLst/>
              <a:rect r="r" b="b" t="t" l="l"/>
              <a:pathLst>
                <a:path h="2709333" w="433966">
                  <a:moveTo>
                    <a:pt x="0" y="0"/>
                  </a:moveTo>
                  <a:lnTo>
                    <a:pt x="433966" y="0"/>
                  </a:lnTo>
                  <a:lnTo>
                    <a:pt x="43396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3396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36137" y="388088"/>
            <a:ext cx="3469731" cy="881890"/>
          </a:xfrm>
          <a:custGeom>
            <a:avLst/>
            <a:gdLst/>
            <a:ahLst/>
            <a:cxnLst/>
            <a:rect r="r" b="b" t="t" l="l"/>
            <a:pathLst>
              <a:path h="881890" w="3469731">
                <a:moveTo>
                  <a:pt x="0" y="0"/>
                </a:moveTo>
                <a:lnTo>
                  <a:pt x="3469731" y="0"/>
                </a:lnTo>
                <a:lnTo>
                  <a:pt x="3469731" y="881890"/>
                </a:lnTo>
                <a:lnTo>
                  <a:pt x="0" y="881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647716" cy="10287000"/>
            <a:chOff x="0" y="0"/>
            <a:chExt cx="433966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3966" cy="2709333"/>
            </a:xfrm>
            <a:custGeom>
              <a:avLst/>
              <a:gdLst/>
              <a:ahLst/>
              <a:cxnLst/>
              <a:rect r="r" b="b" t="t" l="l"/>
              <a:pathLst>
                <a:path h="2709333" w="433966">
                  <a:moveTo>
                    <a:pt x="0" y="0"/>
                  </a:moveTo>
                  <a:lnTo>
                    <a:pt x="433966" y="0"/>
                  </a:lnTo>
                  <a:lnTo>
                    <a:pt x="43396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E60C0">
                    <a:alpha val="100000"/>
                  </a:srgbClr>
                </a:gs>
                <a:gs pos="50000">
                  <a:srgbClr val="437BCB">
                    <a:alpha val="100000"/>
                  </a:srgbClr>
                </a:gs>
                <a:gs pos="100000">
                  <a:srgbClr val="EFEFE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3396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DAHOw_fmpZI</dc:identifier>
  <dcterms:modified xsi:type="dcterms:W3CDTF">2011-08-01T06:04:30Z</dcterms:modified>
  <cp:revision>1</cp:revision>
  <dc:title>RCX PPT TEMPLATE</dc:title>
</cp:coreProperties>
</file>